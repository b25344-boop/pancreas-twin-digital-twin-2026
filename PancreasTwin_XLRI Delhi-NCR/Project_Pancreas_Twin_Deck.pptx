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A8CC"/>
                </a:solidFill>
              </a:defRPr>
            </a:pPr>
            <a:r>
              <a:t>HAPPIEST HEALTH • DIGITAL TWIN CHALLENGE 2026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Project Pancreas Twin</a:t>
            </a:r>
          </a:p>
          <a:p>
            <a:pPr>
              <a:spcAft>
                <a:spcPts val="2400"/>
              </a:spcAft>
              <a:defRPr sz="2000">
                <a:solidFill>
                  <a:srgbClr val="C8E1F5"/>
                </a:solidFill>
              </a:defRPr>
            </a:pPr>
            <a:r>
              <a:t>Multi-Modal Physiological Digital Twin for 60-Minute Glycemic Excursion Forecasting</a:t>
            </a:r>
          </a:p>
          <a:p>
            <a:pPr>
              <a:defRPr sz="1400">
                <a:solidFill>
                  <a:srgbClr val="AABED2"/>
                </a:solidFill>
              </a:defRPr>
            </a:pPr>
            <a:r>
              <a:t>Fusing CGM History, Meal Logs, Wearable Telemetry and EHR Phenotypes to Pre-empt Acute Diabetic Crises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FC8"/>
                </a:solidFill>
              </a:defRPr>
            </a:pPr>
            <a:r>
              <a:t>Team PancreasTwin | Team leader: Akhilesh K S | XLRI - Xavier School of Management, Delhi-NCR | Category: Healthcare AI &amp; Metabolic Digital Twins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The Clinical Burden: The Hidden Hazard of Acute Glycemic Excursions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2043"/>
                </a:solidFill>
              </a:defRPr>
            </a:pPr>
            <a:r>
              <a:t>101M</a:t>
            </a:r>
          </a:p>
          <a:p>
            <a:pPr>
              <a:spcAft>
                <a:spcPts val="1400"/>
              </a:spcAft>
              <a:defRPr sz="1600" b="1">
                <a:solidFill>
                  <a:srgbClr val="00A8CC"/>
                </a:solidFill>
              </a:defRPr>
            </a:pPr>
            <a:r>
              <a:t>Adults with Diabetes in India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ICMR-INDIAB (Lancet Diabetes Endocrinol, 2023). A 90-day HbA1c average hides the daily spikes linked to microvascular damage.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2043"/>
                </a:solidFill>
              </a:defRPr>
            </a:pPr>
            <a:r>
              <a:t>136M</a:t>
            </a:r>
          </a:p>
          <a:p>
            <a:pPr>
              <a:spcAft>
                <a:spcPts val="1400"/>
              </a:spcAft>
              <a:defRPr sz="1600" b="1">
                <a:solidFill>
                  <a:srgbClr val="00A8CC"/>
                </a:solidFill>
              </a:defRPr>
            </a:pPr>
            <a:r>
              <a:t>Adults with Prediabetes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Same ICMR-INDIAB survey. Lows below 70 mg/dL cause confusion, falls and emergency visits; highs build silent damage.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F2043"/>
                </a:solidFill>
              </a:defRPr>
            </a:pPr>
            <a:r>
              <a:t>Reactive</a:t>
            </a:r>
          </a:p>
          <a:p>
            <a:pPr>
              <a:spcAft>
                <a:spcPts val="1400"/>
              </a:spcAft>
              <a:defRPr sz="1600" b="1">
                <a:solidFill>
                  <a:srgbClr val="00A8CC"/>
                </a:solidFill>
              </a:defRPr>
            </a:pPr>
            <a:r>
              <a:t>Current CGM Failure Mode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Existing CGMs sound alarms after glucose has already spiked (&gt;180 mg/dL), when pharmaceutical or lifestyle intervention is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Clinical Timing: Why the 60-Minute Horizon Unlocks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62828"/>
                </a:solidFill>
              </a:defRPr>
            </a:pPr>
            <a:r>
              <a:t>15 to 30 Min (Too Short)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Rapid-acting insulin takes 15-20 min to begin onset.</a:t>
            </a:r>
            <a:br/>
            <a:r>
              <a:t>• Digestion is already in full swing.</a:t>
            </a:r>
            <a:br/>
            <a:r>
              <a:t>• Muscle contraction cannot blunt an existing peak.</a:t>
            </a:r>
            <a:br/>
            <a:r>
              <a:t>• Result: Patient can only panic and watch the spike.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E7D32"/>
                </a:solidFill>
              </a:defRPr>
            </a:pPr>
            <a:r>
              <a:t>60 Min: The Actionable Window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Non-pharmacological window: A 15-min post-meal walk stimulates GLUT4 translocation, blunting spikes by roughly 35-40 mg/dL.</a:t>
            </a:r>
            <a:br/>
            <a:r>
              <a:t>• Hypoglycemia rescue: 15g carbs absorbs in time to prevent crash.</a:t>
            </a:r>
            <a:br/>
            <a:r>
              <a:t>• Maximum predictive signal before stochastic behavioral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120+ Min (High Stochasticity)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Behavioral uncertainty multiplies over 2 hours.</a:t>
            </a:r>
            <a:br/>
            <a:r>
              <a:t>• Unannounced snacks, spontaneous movement, and stress spikes introduce variance.</a:t>
            </a:r>
            <a:br/>
            <a:r>
              <a:t>• Multi-horizon head tracks 2-hour trajectory for strategic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Data Ingestion &amp; Harmonization: 247M Records Curated Across 17 Cohorts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043"/>
                </a:solidFill>
              </a:defRPr>
            </a:pPr>
            <a:r>
              <a:t>Exhaustive Multi-Cohort Ingestion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Total Ingested: 11.59 GB across 17 open clinical cohorts (247,427,617 records).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HUPA-UCM: 26.1M records (Libre 2 CGM, steps, heart rate, sleep).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D1NAMO: 206.2M records (Zephyr ECG, accelerometer, meals).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Synthea T2D: 92k longitudinal synthetic EHR records across 500 patients.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Tier-2 PhysioNet Open Access: CGMacros (45 subjects) &amp; BIG IDEAs (16 subjects) downloaded and parsed with 0 DUA friction.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Data Provenance: 65 subjects carry full measured clinical labs (CGMacros bio.csv + Shanghai); 16 subjects carry measured HbA1c; 25 subjects utilize baseline priors (marked via static_ehr_source).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Independent rebuild: all 109 Shanghai files, real sensor readings only: 442,353 readings from 184 patients (T1D, T2DM, prediabetes, healthy).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A8CC"/>
                </a:solidFill>
              </a:defRPr>
            </a:pPr>
            <a:r>
              <a:t>Harmonization Pipeline (harmonize_5min.py)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Standardized Epoch: Uniform 5-minute sampling grid matching Libre/Dexcom hardware.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Total Harmonized Cohort: 534,175 synchronized epochs across 106 human subjects.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Strict Patient-Disjoint Partitioning (Gate G1): Zero patient overlap across splits.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  - Train Split: 402,662 epochs (74 subjects)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  - Validation Split: 80,952 epochs (15 subjects)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  - Held-Out Test Split: 50,561 epochs (17 subjects)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Engineered Features: Dynamic velocity (dG/dt), acceleration, rolling 30m mean, rolling 60m std, circadian time, heart rate, METs, and static EHR vectors.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Multi-Horizon Targets: Dual-task evaluation at 60 mins and 120 mins (2 hours).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• Headline evaluation: patient-disjoint 5-fold CV on 184 patients (every patient tested once).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Multi-Modal Architecture: Two-Tower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043"/>
                </a:solidFill>
              </a:defRPr>
            </a:pPr>
            <a:r>
              <a:t>Tower 1: Static EHR MLP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Encodes baseline physiology: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Patient Age &amp; BMI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Baseline Glycated HbA1c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Metformin Prescription Status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Insulin Regimen Classification</a:t>
            </a:r>
          </a:p>
          <a:p>
            <a:br/>
            <a:pPr>
              <a:defRPr sz="1200">
                <a:solidFill>
                  <a:srgbClr val="212529"/>
                </a:solidFill>
              </a:defRPr>
            </a:pPr>
            <a:r>
              <a:t>Embeds static metabolic clearance and insulin resistance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8CC"/>
                </a:solidFill>
              </a:defRPr>
            </a:pPr>
            <a:r>
              <a:t>Tower 2: Dynamic GRU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Consumes real-time wearable streams: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48 historical 5-min steps (4-hr lookback)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Continuous glucose, velocity &amp; acceleration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Continuous heart rate (Zephyr/Fitbit)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Physical exertion (METs activity)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Diurnal circadian sine/cosine clock</a:t>
            </a:r>
          </a:p>
          <a:p>
            <a:br/>
            <a:pPr>
              <a:defRPr sz="1200">
                <a:solidFill>
                  <a:srgbClr val="212529"/>
                </a:solidFill>
              </a:defRPr>
            </a:pPr>
            <a:r>
              <a:t>2-Layer Recurrent GRU captures trajectory momentum and digestion 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E7D32"/>
                </a:solidFill>
              </a:defRPr>
            </a:pPr>
            <a:r>
              <a:t>Late Fusion &amp; Multi-Task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Feature Concatenation &amp; Multi-Heads: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Fused Multi-Modal Embedding (32-d)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60m Quantile Head: p05, p50, p95 (90% cone)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120m Horizon Head: 2-hour trajectory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Early Warning Head: Acute spike probability</a:t>
            </a:r>
          </a:p>
          <a:p>
            <a:br/>
            <a:pPr>
              <a:defRPr sz="1200">
                <a:solidFill>
                  <a:srgbClr val="212529"/>
                </a:solidFill>
              </a:defRPr>
            </a:pPr>
            <a:r>
              <a:t>Pinball loss + Asymmetric Hypo penalty prevents dangerous crashes.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Headline Result: 17% Better at 60 Min and 20% Better at 120 Min than Persistence</a:t>
            </a:r>
          </a:p>
        </p:txBody>
      </p:sp>
      <p:pic>
        <p:nvPicPr>
          <p:cNvPr id="4" name="Picture 3" descr="fresh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34564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80060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2043"/>
                </a:solidFill>
              </a:defRPr>
            </a:pPr>
            <a:r>
              <a:t>60-Minute Horizon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LightGBM + carbs + EHR: 25.85 +/- 1.03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Persistence floor: 31.14 +/- 1.66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17% lower RMSE | Clarke A+B 97.2%, Zone E 0.01%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80060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48463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A8CC"/>
                </a:solidFill>
              </a:defRPr>
            </a:pPr>
            <a:r>
              <a:t>120-Minute Horizon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LightGBM + carbs + EHR: 35.65 +/- 2.13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Persistence floor: 44.33 +/- 2.77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20% lower RMSE at the 2-hour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80060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84632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How It Was Measured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184 patients, 442,353 real readings, no interpolated targets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Patient-disjoint 5-fold CV: every patient tested once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• Mean +/- std across the 5 folds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Secondary Evidence: The Same Result Holds on a 17-Patient Held-Out Split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043"/>
                </a:solidFill>
              </a:defRPr>
            </a:pPr>
            <a:r>
              <a:t>Held-Out Test Split (n=17 patients, 50k rows)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60-Min Horizon (original team pipeline):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Persistence floor: 32.66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Two-Tower GRU: 29.71 | Ridge: 29.28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LightGBM: 27.93 mg/dL (MAE 19.13, Clarke A+B 97.13%)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120-Min Horizon (original team pipeline):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Persistence floor: 48.07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Two-Tower GRU: 39.93 | LightGBM: 39.54 mg/dL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Fresh rebuild scored on the same 17 patients: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26.33 mg/dL at 60 min and 36.05 mg/dL at 120 min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• Persistence floors agree within 0.2 to 1.4 mg/dL, so both pipelines measure the same thing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Why secondary: one 17-patient split is a small sample. The 5-fold result on 184 patients is the primary claim.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Multi-Modal Fusion: Meal Logging Matters More than Static EHR</a:t>
            </a:r>
          </a:p>
        </p:txBody>
      </p:sp>
      <p:pic>
        <p:nvPicPr>
          <p:cNvPr id="4" name="Picture 3" descr="fusion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043"/>
                </a:solidFill>
              </a:defRPr>
            </a:pPr>
            <a:r>
              <a:t>What Each Signal Adds (RMSE gain, mg/dL)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On the 17-patient split (chart, left):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  • Static EHR: +0.74 at 60 min (p = 0.0056) and +1.33 at 120 min (p = 0.0348)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Across 153 patients in 5-fold CV: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  • Static EHR: +0.15 at 60 min (p = 0.046, borderline) and -0.07 at 120 min (not significant)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  • Meal and carb logging: +0.42 at 60 min and +0.56 at 120 min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Honest reading: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  • The static EHR gain was real for those 17 people but does not generalise.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  • Meal logging is the bigger multimodal driver.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</a:defRPr>
            </a:pPr>
            <a:r>
              <a:t>Product message: the twin gets more accurate when the patient logs meals, so the app should make meal logging effortless.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Closing the Loop: The Twin Learns Each Patient from Their Own Readings</a:t>
            </a:r>
          </a:p>
        </p:txBody>
      </p:sp>
      <p:pic>
        <p:nvPicPr>
          <p:cNvPr id="4" name="Picture 3" descr="personal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234440"/>
            <a:ext cx="9326880" cy="35715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8348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2043"/>
                </a:solidFill>
              </a:defRPr>
            </a:pPr>
            <a:r>
              <a:t>What Changes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Twin compares its past forecasts with readings that later arrived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Recent error (24 h, shrunk) corrects the next forecast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No future data used; runs on the phone, no retraining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98348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50292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A8CC"/>
                </a:solidFill>
              </a:defRPr>
            </a:pPr>
            <a:r>
              <a:t>Result (5-fold CV, 184 patients)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60 min: 25.85 to 25.47 mg/dL (18% better than persistence)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120 min: 35.62 to 34.54 mg/dL (22% better than persistence)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~70% of patients improve, p &lt; 1e-12; Clarke A+B up at both horizons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983480"/>
            <a:ext cx="3429000" cy="16002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50292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Why It Matters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Shadow to twin: data flows back from the patient (NASEM definition)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Gain grows with memory: 72 h beats 24 h beats 6 h</a:t>
            </a:r>
          </a:p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• Settings fixed before testing; full grid in PERSONALIZATION.md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Clinical Safety: 97.2% Clarke Zone A+B in 5-Fold CV (97.6% on Held-Out Split)</a:t>
            </a:r>
          </a:p>
        </p:txBody>
      </p:sp>
      <p:pic>
        <p:nvPicPr>
          <p:cNvPr id="4" name="Picture 3" descr="clarke_erro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371600"/>
            <a:ext cx="539496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043"/>
                </a:solidFill>
              </a:defRPr>
            </a:pPr>
            <a:r>
              <a:t>Clarke Error Grid Safety Validation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Primary (5-fold CV, 184 patients, 60 min): Zone A+B 97.2%, Zone E 0.01% for LightGBM + carbs + EHR.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Chart (17-patient held-out split, Two-Tower GRU, n=49,286): Zone A (Clinically Accurate): 76.5% of predictions fall within 20% of reference glucose or both &lt;=70 mg/dL.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Zone B (Benign / Acceptable): 21.1% of predictions deviate but lead to benign clinical decisions.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Clinically Safe Total (Zone A + B): 97.62% on the held-out split.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Near-Zero Catastrophic Errors (Zone E = 0.04%): Negligible occurrence of opposite treatment errors across 49,000+ test samples.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90% Quantile Confidence Cone: 91.8% empirical test coverage achieved via Pinball Loss across quantiles tau in [0.05, 0.50, 0.95].</a:t>
            </a:r>
          </a:p>
          <a:p>
            <a:pPr>
              <a:spcAft>
                <a:spcPts val="600"/>
              </a:spcAft>
              <a:defRPr sz="1050">
                <a:solidFill>
                  <a:srgbClr val="212529"/>
                </a:solidFill>
              </a:defRPr>
            </a:pPr>
            <a:r>
              <a:t>• Clinical Debouncing (CDS): Eliminates clustered alarms, reducing false alert rate by 80.7% (from 177.37/100h down to 34.23/100h) with 40-50 min median lead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Counterfactual Simulation: Turning Prediction into Actionable Prescription</a:t>
            </a:r>
          </a:p>
        </p:txBody>
      </p:sp>
      <p:pic>
        <p:nvPicPr>
          <p:cNvPr id="4" name="Picture 3" descr="trajectory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A8CC"/>
                </a:solidFill>
              </a:defRPr>
            </a:pPr>
            <a:r>
              <a:t>Physiological 'What-If' Engine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Beyond Passive Alarms: Traditional monitors warn of failure. Pancreas Twin models intervention pathways.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GLUT4 Muscle Translocation: Skeletal muscle contractions stimulate insulin-independent glucose transport.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Simulation: When a spike to 215 mg/dL is predicted, the user simulates a 15-minute post-meal walk (4.0 METs).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Quantified Impact (rule-based prototype): lowers the 60-min forecast by 36 mg/dL, in line with reported post-meal walking effects; learning this effect from data is on the roadmap.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Patient Psychology: Shifting diabetes management from anxiety and guilt to empowered, predictive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Edge Hardware &amp; Deployment: Zero Cloud Cost, Complete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Sub-Millisecond Inference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0.84 ms CPU latency on Intel Core Ultra 5.</a:t>
            </a:r>
            <a:br/>
            <a:r>
              <a:t>• 0.22 ms with Intel Arc GPU acceleration.</a:t>
            </a:r>
            <a:br/>
            <a:r>
              <a:t>• Model checkpoint is only 199 KB.</a:t>
            </a:r>
            <a:br/>
            <a:r>
              <a:t>• Easily runs on smartphone or smart watch edge NPU without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A8CC"/>
                </a:solidFill>
              </a:defRPr>
            </a:pPr>
            <a:r>
              <a:t>Zero Ongoing Cloud Spend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Competitor architectures route continuous sensor streams to cloud LLMs ($0.05/pt/day = $18/pt/year).</a:t>
            </a:r>
            <a:br/>
            <a:r>
              <a:t>• Pancreas Twin executes 100% on edge hardware.</a:t>
            </a:r>
            <a:br/>
            <a:r>
              <a:t>• Zero cloud inference bills; zero recurring API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E7D32"/>
                </a:solidFill>
              </a:defRPr>
            </a:pPr>
            <a:r>
              <a:t>Privacy &amp; DPDPA Compliance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Continuous biometric telemetry never leaves the patient device.</a:t>
            </a:r>
            <a:br/>
            <a:r>
              <a:t>• Designed to support India DPDPA 2023 and US HIPAA compliance (data minimisation, on-device processing).</a:t>
            </a:r>
            <a:br/>
            <a:r>
              <a:t>• No cloud data breach exposure.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Clinical Decision Support System: Interactive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2043"/>
                </a:solidFill>
              </a:defRPr>
            </a:pPr>
            <a:r>
              <a:t>Built &amp; Verified in app.py (Streamlit + Plotly, runs locally)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t>1. Dynamic Patient Persona Switcher: Select across held-out patient twins with real clinical phenotypes (Age 42-78, BMI 22-38, Baseline HbA1c 6.5%-10.8%, Insulin &amp; Metformin statuses).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t>2. Continuous Day Scrubber: Interactive slider to navigate through 24-hour physiological telemetry and inspect postprandial glycemic excursions.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t>3. Dual-Axis Plotly Biometric Visualizer: High-definition rendering of 4-hour historical lookback, 60-min and 120-min forecast cones, target band (70-180 mg/dL), and METs activity.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t>4. Automated Triage Badge: Immediate color-coded status banner: CRITICAL SPIKE ALERT (Red), HYPOGLYCEMIA WARNING (Amber), or GLYCEMIC STABILITY NORMAL (Green).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</a:defRPr>
            </a:pPr>
            <a:r>
              <a:t>5. Interactive 'What-If' Intervention Toggle: Real-time re-calculation demonstrating how a 15-minute walk suppresses upcoming spikes.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Regulatory Strategy &amp; Ethical Boundaries: Safe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043"/>
                </a:solidFill>
              </a:defRPr>
            </a:pPr>
            <a:r>
              <a:t>SaMD Classification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Classified as Software as a Medical Device (SaMD) Class II under FDA / CDSCO frameworks.</a:t>
            </a:r>
            <a:br/>
            <a:r>
              <a:t>• Falls under Section 520(o)(1)(E) Clinical Decision Support (CDS).</a:t>
            </a:r>
            <a:br/>
            <a:r>
              <a:t>• Intended for physician and patient informational coaching.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62828"/>
                </a:solidFill>
              </a:defRPr>
            </a:pPr>
            <a:r>
              <a:t>Strict Demarcation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STRICTLY NO AUTONOMOUS DOSING: Never controls insulin pumps or delivers closed-loop boluses.</a:t>
            </a:r>
            <a:br/>
            <a:r>
              <a:t>• Exclusively non-pharmacological lifestyle coaching and early warning triage.</a:t>
            </a:r>
            <a:br/>
            <a:r>
              <a:t>• Clear patient-facing disclaimers on every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E7D32"/>
                </a:solidFill>
              </a:defRPr>
            </a:pPr>
            <a:r>
              <a:t>Evidence &amp; Auditability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100% transparent feature importance.</a:t>
            </a:r>
            <a:br/>
            <a:r>
              <a:t>• No black-box generative hallucinations.</a:t>
            </a:r>
            <a:br/>
            <a:r>
              <a:t>• Deterministic fallbacks to robust Ridge and ExtraTrees models if telemetry drops.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CC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Commercialization &amp; Roadmap: Deploying the Rs 2,00,000 Challenge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2043"/>
                </a:solidFill>
              </a:defRPr>
            </a:pPr>
            <a:r>
              <a:t>Commercialization Model (B2B2C)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Hospital &amp; Clinic Networks: White-label CDSS integrated into outpatient clinics (Apollo Sugar, Max Healthcare, Fortis).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Corporate Wellness &amp; Insurers: Value-based outcomes contract reducing emergency room admissions for severe hypoglycemia.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HL7 FHIR Interoperability: Native FHIR Observation and DiagnosticReport connectors.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Patient Subscription: Premium freemium tier with custom what-if meal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A8CC"/>
                </a:solidFill>
              </a:defRPr>
            </a:pPr>
            <a:r>
              <a:t>12-Month Implementation Roadmap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Phase 1 (October 2026): PoC complete: 17% (60 min) and 20% (120 min) better than persistence in 5-fold CV on 184 patients, 18% and 22% with per-patient updating; Streamlit CDSS MVP live.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Phase 2 (Q1 2027): Prospective 50-patient clinical observational trial with continuous Dexcom G7 and Apple Watch feeds.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Phase 3 (Q2 2027): CDSCO Class B medical device pre-submission in India; multi-horizon 120-minute ensemble expansion.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Phase 4 (Q3-Q4 2027): Enterprise pilot launch with Indian Diabetology chains; Apple HealthKit / Google Health Connect native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